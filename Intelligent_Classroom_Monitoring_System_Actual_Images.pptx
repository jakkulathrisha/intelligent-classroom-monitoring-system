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94360"/>
            <a:ext cx="2103120" cy="2103120"/>
          </a:xfrm>
          <a:prstGeom prst="ellipse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01400" y="5440680"/>
            <a:ext cx="1645920" cy="1645920"/>
          </a:xfrm>
          <a:prstGeom prst="ellipse">
            <a:avLst/>
          </a:prstGeom>
          <a:solidFill>
            <a:srgbClr val="35C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5486400"/>
            <a:ext cx="1417320" cy="1417320"/>
          </a:xfrm>
          <a:prstGeom prst="ellipse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64008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100" b="1">
                <a:solidFill>
                  <a:srgbClr val="F8FBFF"/>
                </a:solidFill>
                <a:latin typeface="Aptos Display"/>
              </a:defRPr>
            </a:pPr>
            <a:r>
              <a:t>INTELLIGENT CLASSROOM</a:t>
            </a:r>
            <a:br/>
            <a:r>
              <a:t>MONITORING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38528"/>
            <a:ext cx="6309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5CDE2"/>
                </a:solidFill>
                <a:latin typeface="Aptos"/>
              </a:defRPr>
            </a:pPr>
            <a:r>
              <a:t>AI-Powered CCTV Monitoring using Computer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42032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C232D"/>
                </a:solidFill>
                <a:latin typeface="Aptos"/>
              </a:defRPr>
            </a:pPr>
            <a:r>
              <a:t>BVSR ENGINEERING COLLEGE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35808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D2E1F1"/>
                </a:solidFill>
                <a:latin typeface="Aptos"/>
              </a:defRPr>
            </a:pPr>
            <a:r>
              <a:t>Department of CSE – Data Science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257800"/>
            <a:ext cx="6217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0">
                <a:solidFill>
                  <a:srgbClr val="D2E1F1"/>
                </a:solidFill>
                <a:latin typeface="Aptos"/>
              </a:defRPr>
            </a:pPr>
            <a:r>
              <a:t>Computer Vision • Smart Monitoring • Real-Time Alerts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457200"/>
            <a:ext cx="4297679" cy="2971800"/>
          </a:xfrm>
          <a:prstGeom prst="roundRect">
            <a:avLst/>
          </a:prstGeom>
          <a:solidFill>
            <a:srgbClr val="192D48"/>
          </a:solidFill>
          <a:ln>
            <a:solidFill>
              <a:srgbClr val="35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_crop_classroom_cctv.jp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502920"/>
            <a:ext cx="4206240" cy="2880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69480" y="3429000"/>
            <a:ext cx="4206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0">
                <a:solidFill>
                  <a:srgbClr val="7D9BB9"/>
                </a:solidFill>
                <a:latin typeface="Aptos"/>
              </a:defRPr>
            </a:pPr>
            <a:r>
              <a:t>Visual reference: South China Morning Post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3657600"/>
            <a:ext cx="4206240" cy="2240280"/>
          </a:xfrm>
          <a:prstGeom prst="roundRect">
            <a:avLst/>
          </a:prstGeom>
          <a:solidFill>
            <a:srgbClr val="122640"/>
          </a:solidFill>
          <a:ln>
            <a:solidFill>
              <a:srgbClr val="1C6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3913632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35CDE2"/>
                </a:solidFill>
                <a:latin typeface="Aptos"/>
              </a:defRPr>
            </a:pPr>
            <a:r>
              <a:t>TEAM MEMBERS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315968"/>
            <a:ext cx="3474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80" b="0">
                <a:solidFill>
                  <a:srgbClr val="F8FBFF"/>
                </a:solidFill>
                <a:latin typeface="Aptos"/>
              </a:defRPr>
            </a:pPr>
            <a:r>
              <a:t>Ch. Jahnavi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503420"/>
            <a:ext cx="3474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80" b="0">
                <a:solidFill>
                  <a:srgbClr val="F8FBFF"/>
                </a:solidFill>
                <a:latin typeface="Aptos"/>
              </a:defRPr>
            </a:pPr>
            <a:r>
              <a:t>T. Sai Meghana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4690872"/>
            <a:ext cx="3474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80" b="0">
                <a:solidFill>
                  <a:srgbClr val="F8FBFF"/>
                </a:solidFill>
                <a:latin typeface="Aptos"/>
              </a:defRPr>
            </a:pPr>
            <a:r>
              <a:t>S. Adi Lakshmi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4878324"/>
            <a:ext cx="3474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80" b="0">
                <a:solidFill>
                  <a:srgbClr val="F8FBFF"/>
                </a:solidFill>
                <a:latin typeface="Aptos"/>
              </a:defRPr>
            </a:pPr>
            <a:r>
              <a:t>A. Prasanna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065776"/>
            <a:ext cx="3474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80" b="0">
                <a:solidFill>
                  <a:srgbClr val="F8FBFF"/>
                </a:solidFill>
                <a:latin typeface="Aptos"/>
              </a:defRPr>
            </a:pPr>
            <a:r>
              <a:t>J. Thrisha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5253227"/>
            <a:ext cx="3474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80" b="0">
                <a:solidFill>
                  <a:srgbClr val="F8FBFF"/>
                </a:solidFill>
                <a:latin typeface="Aptos"/>
              </a:defRPr>
            </a:pPr>
            <a:r>
              <a:t>Y. Harika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5440679"/>
            <a:ext cx="3474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80" b="0">
                <a:solidFill>
                  <a:srgbClr val="F8FBFF"/>
                </a:solidFill>
                <a:latin typeface="Aptos"/>
              </a:defRPr>
            </a:pPr>
            <a:r>
              <a:t>O. Dhana Lakshmi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5628131"/>
            <a:ext cx="3474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80" b="0">
                <a:solidFill>
                  <a:srgbClr val="F8FBFF"/>
                </a:solidFill>
                <a:latin typeface="Aptos"/>
              </a:defRPr>
            </a:pPr>
            <a:r>
              <a:t>D. Shireesha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28232"/>
            <a:ext cx="10881360" cy="22860"/>
          </a:xfrm>
          <a:prstGeom prst="rect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35640" y="647395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D2E1F1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94360"/>
            <a:ext cx="2103120" cy="2103120"/>
          </a:xfrm>
          <a:prstGeom prst="ellipse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01400" y="5440680"/>
            <a:ext cx="1645920" cy="1645920"/>
          </a:xfrm>
          <a:prstGeom prst="ellipse">
            <a:avLst/>
          </a:prstGeom>
          <a:solidFill>
            <a:srgbClr val="35C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5486400"/>
            <a:ext cx="1417320" cy="1417320"/>
          </a:xfrm>
          <a:prstGeom prst="ellipse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Aptos Display"/>
              </a:defRPr>
            </a:pPr>
            <a:r>
              <a:t>01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9144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0">
                <a:solidFill>
                  <a:srgbClr val="D2E1F1"/>
                </a:solidFill>
                <a:latin typeface="Aptos"/>
              </a:defRPr>
            </a:pPr>
            <a:r>
              <a:t>From passive CCTV recording to intelligent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120640" cy="4434840"/>
          </a:xfrm>
          <a:prstGeom prst="roundRect">
            <a:avLst/>
          </a:prstGeom>
          <a:solidFill>
            <a:srgbClr val="122640"/>
          </a:solidFill>
          <a:ln>
            <a:solidFill>
              <a:srgbClr val="2C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64008" cy="4434840"/>
          </a:xfrm>
          <a:prstGeom prst="rect">
            <a:avLst/>
          </a:prstGeom>
          <a:solidFill>
            <a:srgbClr val="35C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545336"/>
            <a:ext cx="475487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8FBFF"/>
                </a:solidFill>
                <a:latin typeface="Aptos"/>
              </a:defRPr>
            </a:pPr>
            <a:r>
              <a:t>THE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47672"/>
            <a:ext cx="4754879" cy="3794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D2E1F1"/>
                </a:solidFill>
                <a:latin typeface="Aptos"/>
              </a:defRPr>
            </a:pPr>
            <a:r>
              <a:t>Traditional CCTV records what happened.</a:t>
            </a:r>
            <a:br/>
            <a:br/>
            <a:r>
              <a:t>Our system adds computer vision to identify predefined suspicious events and immediately present evidence to faculty.</a:t>
            </a:r>
            <a:br/>
            <a:br/>
            <a:r>
              <a:t>The goal is to assist faculty with faster review — not replace human judgment.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5166359" cy="4526279"/>
          </a:xfrm>
          <a:prstGeom prst="roundRect">
            <a:avLst/>
          </a:prstGeom>
          <a:solidFill>
            <a:srgbClr val="192D48"/>
          </a:solidFill>
          <a:ln>
            <a:solidFill>
              <a:srgbClr val="35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_crop_classroom_ai.p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17320"/>
            <a:ext cx="5074920" cy="4434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72200" y="5897879"/>
            <a:ext cx="5074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0">
                <a:solidFill>
                  <a:srgbClr val="7D9BB9"/>
                </a:solidFill>
                <a:latin typeface="Aptos"/>
              </a:defRPr>
            </a:pPr>
            <a:r>
              <a:t>Visual reference: Times Higher Education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28232"/>
            <a:ext cx="10881360" cy="22860"/>
          </a:xfrm>
          <a:prstGeom prst="rect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35640" y="647395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D2E1F1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94360"/>
            <a:ext cx="2103120" cy="2103120"/>
          </a:xfrm>
          <a:prstGeom prst="ellipse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01400" y="5440680"/>
            <a:ext cx="1645920" cy="1645920"/>
          </a:xfrm>
          <a:prstGeom prst="ellipse">
            <a:avLst/>
          </a:prstGeom>
          <a:solidFill>
            <a:srgbClr val="35C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5486400"/>
            <a:ext cx="1417320" cy="1417320"/>
          </a:xfrm>
          <a:prstGeom prst="ellipse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Aptos Display"/>
              </a:defRPr>
            </a:pPr>
            <a:r>
              <a:t>02 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9144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0">
                <a:solidFill>
                  <a:srgbClr val="D2E1F1"/>
                </a:solidFill>
                <a:latin typeface="Aptos"/>
              </a:defRPr>
            </a:pPr>
            <a:r>
              <a:t>Why manual classroom and exam-hall monitoring is difficult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98448"/>
            <a:ext cx="2487168" cy="1627632"/>
          </a:xfrm>
          <a:prstGeom prst="roundRect">
            <a:avLst/>
          </a:prstGeom>
          <a:solidFill>
            <a:srgbClr val="122640"/>
          </a:solidFill>
          <a:ln>
            <a:solidFill>
              <a:srgbClr val="2C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98448"/>
            <a:ext cx="64008" cy="1627632"/>
          </a:xfrm>
          <a:prstGeom prst="rect">
            <a:avLst/>
          </a:prstGeom>
          <a:solidFill>
            <a:srgbClr val="DC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26464"/>
            <a:ext cx="212140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1">
                <a:solidFill>
                  <a:srgbClr val="F8FBFF"/>
                </a:solidFill>
                <a:latin typeface="Aptos"/>
              </a:defRPr>
            </a:pPr>
            <a:r>
              <a:t>MANUAL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828800"/>
            <a:ext cx="2121408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80" b="0">
                <a:solidFill>
                  <a:srgbClr val="D2E1F1"/>
                </a:solidFill>
                <a:latin typeface="Aptos"/>
              </a:defRPr>
            </a:pPr>
            <a:r>
              <a:t>One faculty member may need to observe many students.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298448"/>
            <a:ext cx="2487168" cy="1627632"/>
          </a:xfrm>
          <a:prstGeom prst="roundRect">
            <a:avLst/>
          </a:prstGeom>
          <a:solidFill>
            <a:srgbClr val="122640"/>
          </a:solidFill>
          <a:ln>
            <a:solidFill>
              <a:srgbClr val="2C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298448"/>
            <a:ext cx="64008" cy="1627632"/>
          </a:xfrm>
          <a:prstGeom prst="rect">
            <a:avLst/>
          </a:prstGeom>
          <a:solidFill>
            <a:srgbClr val="DC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8728" y="1426464"/>
            <a:ext cx="212140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1">
                <a:solidFill>
                  <a:srgbClr val="F8FBFF"/>
                </a:solidFill>
                <a:latin typeface="Aptos"/>
              </a:defRPr>
            </a:pPr>
            <a:r>
              <a:t>MISSED 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828800"/>
            <a:ext cx="2121408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80" b="0">
                <a:solidFill>
                  <a:srgbClr val="D2E1F1"/>
                </a:solidFill>
                <a:latin typeface="Aptos"/>
              </a:defRPr>
            </a:pPr>
            <a:r>
              <a:t>Short or subtle suspicious actions can be overlooked.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64408"/>
            <a:ext cx="2487168" cy="1627632"/>
          </a:xfrm>
          <a:prstGeom prst="roundRect">
            <a:avLst/>
          </a:prstGeom>
          <a:solidFill>
            <a:srgbClr val="122640"/>
          </a:solidFill>
          <a:ln>
            <a:solidFill>
              <a:srgbClr val="2C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64408"/>
            <a:ext cx="64008" cy="1627632"/>
          </a:xfrm>
          <a:prstGeom prst="rect">
            <a:avLst/>
          </a:prstGeom>
          <a:solidFill>
            <a:srgbClr val="DC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392424"/>
            <a:ext cx="212140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1">
                <a:solidFill>
                  <a:srgbClr val="F8FBFF"/>
                </a:solidFill>
                <a:latin typeface="Aptos"/>
              </a:defRPr>
            </a:pPr>
            <a:r>
              <a:t>SLOW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3794759"/>
            <a:ext cx="2121408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80" b="0">
                <a:solidFill>
                  <a:srgbClr val="D2E1F1"/>
                </a:solidFill>
                <a:latin typeface="Aptos"/>
              </a:defRPr>
            </a:pPr>
            <a:r>
              <a:t>Searching hours of recorded video takes time.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3264408"/>
            <a:ext cx="2487168" cy="1627632"/>
          </a:xfrm>
          <a:prstGeom prst="roundRect">
            <a:avLst/>
          </a:prstGeom>
          <a:solidFill>
            <a:srgbClr val="122640"/>
          </a:solidFill>
          <a:ln>
            <a:solidFill>
              <a:srgbClr val="2C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7560" y="3264408"/>
            <a:ext cx="64008" cy="1627632"/>
          </a:xfrm>
          <a:prstGeom prst="rect">
            <a:avLst/>
          </a:prstGeom>
          <a:solidFill>
            <a:srgbClr val="DC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38728" y="3392424"/>
            <a:ext cx="212140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1">
                <a:solidFill>
                  <a:srgbClr val="F8FBFF"/>
                </a:solidFill>
                <a:latin typeface="Aptos"/>
              </a:defRPr>
            </a:pPr>
            <a:r>
              <a:t>NO INSTANT ALERT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3794759"/>
            <a:ext cx="2121408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80" b="0">
                <a:solidFill>
                  <a:srgbClr val="D2E1F1"/>
                </a:solidFill>
                <a:latin typeface="Aptos"/>
              </a:defRPr>
            </a:pPr>
            <a:r>
              <a:t>Traditional CCTV does not automatically notify faculty.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252728"/>
            <a:ext cx="4983479" cy="4343400"/>
          </a:xfrm>
          <a:prstGeom prst="roundRect">
            <a:avLst/>
          </a:prstGeom>
          <a:solidFill>
            <a:srgbClr val="192D48"/>
          </a:solidFill>
          <a:ln>
            <a:solidFill>
              <a:srgbClr val="35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_crop_classroom_cctv.jp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98448"/>
            <a:ext cx="4892040" cy="42519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309360" y="5596128"/>
            <a:ext cx="4892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0">
                <a:solidFill>
                  <a:srgbClr val="7D9BB9"/>
                </a:solidFill>
                <a:latin typeface="Aptos"/>
              </a:defRPr>
            </a:pPr>
            <a:r>
              <a:t>Visual reference: South China Morning Post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428232"/>
            <a:ext cx="10881360" cy="22860"/>
          </a:xfrm>
          <a:prstGeom prst="rect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35640" y="647395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D2E1F1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94360"/>
            <a:ext cx="2103120" cy="2103120"/>
          </a:xfrm>
          <a:prstGeom prst="ellipse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01400" y="5440680"/>
            <a:ext cx="1645920" cy="1645920"/>
          </a:xfrm>
          <a:prstGeom prst="ellipse">
            <a:avLst/>
          </a:prstGeom>
          <a:solidFill>
            <a:srgbClr val="35C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5486400"/>
            <a:ext cx="1417320" cy="1417320"/>
          </a:xfrm>
          <a:prstGeom prst="ellipse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Aptos Display"/>
              </a:defRPr>
            </a:pPr>
            <a:r>
              <a:t>03 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9144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0">
                <a:solidFill>
                  <a:srgbClr val="D2E1F1"/>
                </a:solidFill>
                <a:latin typeface="Aptos"/>
              </a:defRPr>
            </a:pPr>
            <a:r>
              <a:t>What the proposed system should achieve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5394960" cy="548640"/>
          </a:xfrm>
          <a:prstGeom prst="roundRect">
            <a:avLst/>
          </a:prstGeom>
          <a:solidFill>
            <a:srgbClr val="122640"/>
          </a:solidFill>
          <a:ln>
            <a:solidFill>
              <a:srgbClr val="2C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08176"/>
            <a:ext cx="274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5CDE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399032"/>
            <a:ext cx="4526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F8FBFF"/>
                </a:solidFill>
                <a:latin typeface="Aptos"/>
              </a:defRPr>
            </a:pPr>
            <a:r>
              <a:t>Monitor the live classroom/exam-hall camera feed.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048255"/>
            <a:ext cx="5394960" cy="548640"/>
          </a:xfrm>
          <a:prstGeom prst="roundRect">
            <a:avLst/>
          </a:prstGeom>
          <a:solidFill>
            <a:srgbClr val="122640"/>
          </a:solidFill>
          <a:ln>
            <a:solidFill>
              <a:srgbClr val="2C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57984"/>
            <a:ext cx="274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5CDE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2148839"/>
            <a:ext cx="4526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F8FBFF"/>
                </a:solidFill>
                <a:latin typeface="Aptos"/>
              </a:defRPr>
            </a:pPr>
            <a:r>
              <a:t>Detect predefined potentially suspicious behaviors.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798063"/>
            <a:ext cx="5394960" cy="548640"/>
          </a:xfrm>
          <a:prstGeom prst="roundRect">
            <a:avLst/>
          </a:prstGeom>
          <a:solidFill>
            <a:srgbClr val="122640"/>
          </a:solidFill>
          <a:ln>
            <a:solidFill>
              <a:srgbClr val="2C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907791"/>
            <a:ext cx="274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5CDE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2898647"/>
            <a:ext cx="4526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F8FBFF"/>
                </a:solidFill>
                <a:latin typeface="Aptos"/>
              </a:defRPr>
            </a:pPr>
            <a:r>
              <a:t>Capture the relevant evidence frame automatically.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547872"/>
            <a:ext cx="5394960" cy="548640"/>
          </a:xfrm>
          <a:prstGeom prst="roundRect">
            <a:avLst/>
          </a:prstGeom>
          <a:solidFill>
            <a:srgbClr val="122640"/>
          </a:solidFill>
          <a:ln>
            <a:solidFill>
              <a:srgbClr val="2C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657600"/>
            <a:ext cx="274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5CDE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648456"/>
            <a:ext cx="4526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F8FBFF"/>
                </a:solidFill>
                <a:latin typeface="Aptos"/>
              </a:defRPr>
            </a:pPr>
            <a:r>
              <a:t>Send a fast alert to the faculty dashboard.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297679"/>
            <a:ext cx="5394960" cy="548640"/>
          </a:xfrm>
          <a:prstGeom prst="roundRect">
            <a:avLst/>
          </a:prstGeom>
          <a:solidFill>
            <a:srgbClr val="122640"/>
          </a:solidFill>
          <a:ln>
            <a:solidFill>
              <a:srgbClr val="2C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407407"/>
            <a:ext cx="274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5CDE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398264"/>
            <a:ext cx="4526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F8FBFF"/>
                </a:solidFill>
                <a:latin typeface="Aptos"/>
              </a:defRPr>
            </a:pPr>
            <a:r>
              <a:t>Let faculty review and decide the next action.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252728"/>
            <a:ext cx="4892040" cy="4343400"/>
          </a:xfrm>
          <a:prstGeom prst="roundRect">
            <a:avLst/>
          </a:prstGeom>
          <a:solidFill>
            <a:srgbClr val="192D48"/>
          </a:solidFill>
          <a:ln>
            <a:solidFill>
              <a:srgbClr val="35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_crop_detection.jp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298448"/>
            <a:ext cx="4800600" cy="42519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46520" y="5596128"/>
            <a:ext cx="4800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0">
                <a:solidFill>
                  <a:srgbClr val="7D9BB9"/>
                </a:solidFill>
                <a:latin typeface="Aptos"/>
              </a:defRPr>
            </a:pPr>
            <a:r>
              <a:t>Visual reference: VisAI Labs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428232"/>
            <a:ext cx="10881360" cy="22860"/>
          </a:xfrm>
          <a:prstGeom prst="rect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35640" y="647395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D2E1F1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94360"/>
            <a:ext cx="2103120" cy="2103120"/>
          </a:xfrm>
          <a:prstGeom prst="ellipse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01400" y="5440680"/>
            <a:ext cx="1645920" cy="1645920"/>
          </a:xfrm>
          <a:prstGeom prst="ellipse">
            <a:avLst/>
          </a:prstGeom>
          <a:solidFill>
            <a:srgbClr val="35C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5486400"/>
            <a:ext cx="1417320" cy="1417320"/>
          </a:xfrm>
          <a:prstGeom prst="ellipse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Aptos Display"/>
              </a:defRPr>
            </a:pPr>
            <a:r>
              <a:t>04  PROPOSED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9144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0">
                <a:solidFill>
                  <a:srgbClr val="D2E1F1"/>
                </a:solidFill>
                <a:latin typeface="Aptos"/>
              </a:defRPr>
            </a:pPr>
            <a:r>
              <a:t>The journey from camera input to faculty decision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1572768" cy="1261872"/>
          </a:xfrm>
          <a:prstGeom prst="roundRect">
            <a:avLst/>
          </a:prstGeom>
          <a:solidFill>
            <a:srgbClr val="122640"/>
          </a:solidFill>
          <a:ln>
            <a:solidFill>
              <a:srgbClr val="35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73352"/>
            <a:ext cx="13898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35CDE2"/>
                </a:solidFill>
                <a:latin typeface="Aptos"/>
              </a:defRPr>
            </a:pPr>
            <a:r>
              <a:t>CAMERA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029968"/>
            <a:ext cx="1353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D2E1F1"/>
                </a:solidFill>
                <a:latin typeface="Aptos"/>
              </a:defRPr>
            </a:pPr>
            <a:r>
              <a:t>Live video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773936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5CDE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13432" y="1371600"/>
            <a:ext cx="1572768" cy="1261872"/>
          </a:xfrm>
          <a:prstGeom prst="roundRect">
            <a:avLst/>
          </a:prstGeom>
          <a:solidFill>
            <a:srgbClr val="122640"/>
          </a:solidFill>
          <a:ln>
            <a:solidFill>
              <a:srgbClr val="1C6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04872" y="1673352"/>
            <a:ext cx="13898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C6EDC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029968"/>
            <a:ext cx="1353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D2E1F1"/>
                </a:solidFill>
                <a:latin typeface="Aptos"/>
              </a:defRPr>
            </a:pPr>
            <a:r>
              <a:t>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4" y="1773936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5CDE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15384" y="1371600"/>
            <a:ext cx="1572768" cy="1261872"/>
          </a:xfrm>
          <a:prstGeom prst="roundRect">
            <a:avLst/>
          </a:prstGeom>
          <a:solidFill>
            <a:srgbClr val="122640"/>
          </a:solidFill>
          <a:ln>
            <a:solidFill>
              <a:srgbClr val="35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6824" y="1673352"/>
            <a:ext cx="13898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35CDE2"/>
                </a:solidFill>
                <a:latin typeface="Aptos"/>
              </a:defRPr>
            </a:pPr>
            <a:r>
              <a:t>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5112" y="2029968"/>
            <a:ext cx="1353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D2E1F1"/>
                </a:solidFill>
                <a:latin typeface="Aptos"/>
              </a:defRPr>
            </a:pPr>
            <a:r>
              <a:t>Behavior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7296" y="1773936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5CDE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17336" y="1371600"/>
            <a:ext cx="1572768" cy="1261872"/>
          </a:xfrm>
          <a:prstGeom prst="roundRect">
            <a:avLst/>
          </a:prstGeom>
          <a:solidFill>
            <a:srgbClr val="122640"/>
          </a:solidFill>
          <a:ln>
            <a:solidFill>
              <a:srgbClr val="1C6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08776" y="1673352"/>
            <a:ext cx="13898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C6EDC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064" y="2029968"/>
            <a:ext cx="1353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D2E1F1"/>
                </a:solidFill>
                <a:latin typeface="Aptos"/>
              </a:defRPr>
            </a:pPr>
            <a:r>
              <a:t>Capture frame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1773936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5CDE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19288" y="1371600"/>
            <a:ext cx="1572768" cy="1261872"/>
          </a:xfrm>
          <a:prstGeom prst="roundRect">
            <a:avLst/>
          </a:prstGeom>
          <a:solidFill>
            <a:srgbClr val="122640"/>
          </a:solidFill>
          <a:ln>
            <a:solidFill>
              <a:srgbClr val="DC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0727" y="1673352"/>
            <a:ext cx="13898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DC232D"/>
                </a:solidFill>
                <a:latin typeface="Aptos"/>
              </a:defRPr>
            </a:pPr>
            <a:r>
              <a:t>ALERT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9015" y="2029968"/>
            <a:ext cx="1353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D2E1F1"/>
                </a:solidFill>
                <a:latin typeface="Aptos"/>
              </a:defRPr>
            </a:pPr>
            <a:r>
              <a:t>Notify faculty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1773936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5CDE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21240" y="1371600"/>
            <a:ext cx="1572768" cy="1261872"/>
          </a:xfrm>
          <a:prstGeom prst="roundRect">
            <a:avLst/>
          </a:prstGeom>
          <a:solidFill>
            <a:srgbClr val="122640"/>
          </a:solidFill>
          <a:ln>
            <a:solidFill>
              <a:srgbClr val="37B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12680" y="1673352"/>
            <a:ext cx="13898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37B58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30967" y="2029968"/>
            <a:ext cx="1353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D2E1F1"/>
                </a:solidFill>
                <a:latin typeface="Aptos"/>
              </a:defRPr>
            </a:pPr>
            <a:r>
              <a:t>Faculty decision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34640" y="3017520"/>
            <a:ext cx="6537959" cy="2423160"/>
          </a:xfrm>
          <a:prstGeom prst="roundRect">
            <a:avLst/>
          </a:prstGeom>
          <a:solidFill>
            <a:srgbClr val="192D48"/>
          </a:solidFill>
          <a:ln>
            <a:solidFill>
              <a:srgbClr val="35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_crop_motion_dashboard.jp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3063240"/>
            <a:ext cx="6446520" cy="23317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880360" y="5440680"/>
            <a:ext cx="6446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0">
                <a:solidFill>
                  <a:srgbClr val="7D9BB9"/>
                </a:solidFill>
                <a:latin typeface="Aptos"/>
              </a:defRPr>
            </a:pPr>
            <a:r>
              <a:t>Visual reference: Fiverr / AI computer vision example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428232"/>
            <a:ext cx="10881360" cy="22860"/>
          </a:xfrm>
          <a:prstGeom prst="rect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35640" y="647395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D2E1F1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94360"/>
            <a:ext cx="2103120" cy="2103120"/>
          </a:xfrm>
          <a:prstGeom prst="ellipse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01400" y="5440680"/>
            <a:ext cx="1645920" cy="1645920"/>
          </a:xfrm>
          <a:prstGeom prst="ellipse">
            <a:avLst/>
          </a:prstGeom>
          <a:solidFill>
            <a:srgbClr val="35C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5486400"/>
            <a:ext cx="1417320" cy="1417320"/>
          </a:xfrm>
          <a:prstGeom prst="ellipse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Aptos Display"/>
              </a:defRPr>
            </a:pPr>
            <a:r>
              <a:t>05 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9144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0">
                <a:solidFill>
                  <a:srgbClr val="D2E1F1"/>
                </a:solidFill>
                <a:latin typeface="Aptos"/>
              </a:defRPr>
            </a:pPr>
            <a:r>
              <a:t>How the camera, AI engine, backend and website connect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52728"/>
            <a:ext cx="4800600" cy="512064"/>
          </a:xfrm>
          <a:prstGeom prst="roundRect">
            <a:avLst/>
          </a:prstGeom>
          <a:solidFill>
            <a:srgbClr val="122640"/>
          </a:solidFill>
          <a:ln>
            <a:solidFill>
              <a:srgbClr val="2C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252728"/>
            <a:ext cx="64008" cy="512064"/>
          </a:xfrm>
          <a:prstGeom prst="rect">
            <a:avLst/>
          </a:prstGeom>
          <a:solidFill>
            <a:srgbClr val="35C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380744"/>
            <a:ext cx="4434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1">
                <a:solidFill>
                  <a:srgbClr val="F8FBFF"/>
                </a:solidFill>
                <a:latin typeface="Aptos"/>
              </a:defRPr>
            </a:pPr>
            <a:r>
              <a:t>IP CCTV / CAMERA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783080"/>
            <a:ext cx="4434840" cy="-1280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D2E1F1"/>
                </a:solidFill>
                <a:latin typeface="Aptos"/>
              </a:defRPr>
            </a:pPr>
            <a:r>
              <a:t>RTSP / video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17465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5CDE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29384"/>
            <a:ext cx="4800600" cy="512064"/>
          </a:xfrm>
          <a:prstGeom prst="roundRect">
            <a:avLst/>
          </a:prstGeom>
          <a:solidFill>
            <a:srgbClr val="122640"/>
          </a:solidFill>
          <a:ln>
            <a:solidFill>
              <a:srgbClr val="2C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29384"/>
            <a:ext cx="64008" cy="512064"/>
          </a:xfrm>
          <a:prstGeom prst="rect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57400"/>
            <a:ext cx="4434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1">
                <a:solidFill>
                  <a:srgbClr val="F8FBFF"/>
                </a:solidFill>
                <a:latin typeface="Aptos"/>
              </a:defRPr>
            </a:pPr>
            <a:r>
              <a:t>VIDEO 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459736"/>
            <a:ext cx="4434840" cy="-1280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D2E1F1"/>
                </a:solidFill>
                <a:latin typeface="Aptos"/>
              </a:defRPr>
            </a:pPr>
            <a:r>
              <a:t>Python + OpenCV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4231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5CDE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606040"/>
            <a:ext cx="4800600" cy="512064"/>
          </a:xfrm>
          <a:prstGeom prst="roundRect">
            <a:avLst/>
          </a:prstGeom>
          <a:solidFill>
            <a:srgbClr val="122640"/>
          </a:solidFill>
          <a:ln>
            <a:solidFill>
              <a:srgbClr val="2C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606040"/>
            <a:ext cx="64008" cy="512064"/>
          </a:xfrm>
          <a:prstGeom prst="rect">
            <a:avLst/>
          </a:prstGeom>
          <a:solidFill>
            <a:srgbClr val="35C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2734056"/>
            <a:ext cx="4434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1">
                <a:solidFill>
                  <a:srgbClr val="F8FBFF"/>
                </a:solidFill>
                <a:latin typeface="Aptos"/>
              </a:defRPr>
            </a:pPr>
            <a:r>
              <a:t>AI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136392"/>
            <a:ext cx="4434840" cy="-1280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D2E1F1"/>
                </a:solidFill>
                <a:latin typeface="Aptos"/>
              </a:defRPr>
            </a:pPr>
            <a:r>
              <a:t>YOLO / computer 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3099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5CDE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282696"/>
            <a:ext cx="4800600" cy="512064"/>
          </a:xfrm>
          <a:prstGeom prst="roundRect">
            <a:avLst/>
          </a:prstGeom>
          <a:solidFill>
            <a:srgbClr val="122640"/>
          </a:solidFill>
          <a:ln>
            <a:solidFill>
              <a:srgbClr val="2C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282696"/>
            <a:ext cx="64008" cy="512064"/>
          </a:xfrm>
          <a:prstGeom prst="rect">
            <a:avLst/>
          </a:prstGeom>
          <a:solidFill>
            <a:srgbClr val="DC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3410712"/>
            <a:ext cx="4434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1">
                <a:solidFill>
                  <a:srgbClr val="F8FBFF"/>
                </a:solidFill>
                <a:latin typeface="Aptos"/>
              </a:defRPr>
            </a:pPr>
            <a:r>
              <a:t>ALERT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3813048"/>
            <a:ext cx="4434840" cy="-1280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D2E1F1"/>
                </a:solidFill>
                <a:latin typeface="Aptos"/>
              </a:defRPr>
            </a:pPr>
            <a:r>
              <a:t>Rules + evidence capture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377647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5CDE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959352"/>
            <a:ext cx="4800600" cy="512064"/>
          </a:xfrm>
          <a:prstGeom prst="roundRect">
            <a:avLst/>
          </a:prstGeom>
          <a:solidFill>
            <a:srgbClr val="122640"/>
          </a:solidFill>
          <a:ln>
            <a:solidFill>
              <a:srgbClr val="2C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3959352"/>
            <a:ext cx="64008" cy="512064"/>
          </a:xfrm>
          <a:prstGeom prst="rect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4087368"/>
            <a:ext cx="4434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1">
                <a:solidFill>
                  <a:srgbClr val="F8FBFF"/>
                </a:solidFill>
                <a:latin typeface="Aptos"/>
              </a:defRPr>
            </a:pPr>
            <a:r>
              <a:t>BACKEND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4489704"/>
            <a:ext cx="4434840" cy="-1280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D2E1F1"/>
                </a:solidFill>
                <a:latin typeface="Aptos"/>
              </a:defRPr>
            </a:pPr>
            <a:r>
              <a:t>FastAPI / Flask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" y="44531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5CDE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636008"/>
            <a:ext cx="4800600" cy="512064"/>
          </a:xfrm>
          <a:prstGeom prst="roundRect">
            <a:avLst/>
          </a:prstGeom>
          <a:solidFill>
            <a:srgbClr val="122640"/>
          </a:solidFill>
          <a:ln>
            <a:solidFill>
              <a:srgbClr val="2C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4636008"/>
            <a:ext cx="64008" cy="512064"/>
          </a:xfrm>
          <a:prstGeom prst="rect">
            <a:avLst/>
          </a:prstGeom>
          <a:solidFill>
            <a:srgbClr val="37B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" y="4764024"/>
            <a:ext cx="4434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1">
                <a:solidFill>
                  <a:srgbClr val="F8FBFF"/>
                </a:solidFill>
                <a:latin typeface="Aptos"/>
              </a:defRPr>
            </a:pPr>
            <a:r>
              <a:t>WEB 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" y="5166360"/>
            <a:ext cx="4434840" cy="-1280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D2E1F1"/>
                </a:solidFill>
                <a:latin typeface="Aptos"/>
              </a:defRPr>
            </a:pPr>
            <a:r>
              <a:t>Faculty monitoring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52160" y="1252728"/>
            <a:ext cx="5440679" cy="4526279"/>
          </a:xfrm>
          <a:prstGeom prst="roundRect">
            <a:avLst/>
          </a:prstGeom>
          <a:solidFill>
            <a:srgbClr val="192D48"/>
          </a:solidFill>
          <a:ln>
            <a:solidFill>
              <a:srgbClr val="35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_crop_campus_dashboard.p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298448"/>
            <a:ext cx="5349240" cy="443484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897880" y="5779007"/>
            <a:ext cx="5349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0">
                <a:solidFill>
                  <a:srgbClr val="7D9BB9"/>
                </a:solidFill>
                <a:latin typeface="Aptos"/>
              </a:defRPr>
            </a:pPr>
            <a:r>
              <a:t>Visual reference: MVP Tech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6428232"/>
            <a:ext cx="10881360" cy="22860"/>
          </a:xfrm>
          <a:prstGeom prst="rect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835640" y="647395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D2E1F1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94360"/>
            <a:ext cx="2103120" cy="2103120"/>
          </a:xfrm>
          <a:prstGeom prst="ellipse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01400" y="5440680"/>
            <a:ext cx="1645920" cy="1645920"/>
          </a:xfrm>
          <a:prstGeom prst="ellipse">
            <a:avLst/>
          </a:prstGeom>
          <a:solidFill>
            <a:srgbClr val="35C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5486400"/>
            <a:ext cx="1417320" cy="1417320"/>
          </a:xfrm>
          <a:prstGeom prst="ellipse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Aptos Display"/>
              </a:defRPr>
            </a:pPr>
            <a:r>
              <a:t>06  TECHNOLOGIES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9144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0">
                <a:solidFill>
                  <a:srgbClr val="D2E1F1"/>
                </a:solidFill>
                <a:latin typeface="Aptos"/>
              </a:defRPr>
            </a:pPr>
            <a:r>
              <a:t>Prototype and future implementation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252728"/>
            <a:ext cx="2487168" cy="877824"/>
          </a:xfrm>
          <a:prstGeom prst="roundRect">
            <a:avLst/>
          </a:prstGeom>
          <a:solidFill>
            <a:srgbClr val="122640"/>
          </a:solidFill>
          <a:ln>
            <a:solidFill>
              <a:srgbClr val="2C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252728"/>
            <a:ext cx="64008" cy="877824"/>
          </a:xfrm>
          <a:prstGeom prst="rect">
            <a:avLst/>
          </a:prstGeom>
          <a:solidFill>
            <a:srgbClr val="35C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1380744"/>
            <a:ext cx="212140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8FBFF"/>
                </a:solidFill>
                <a:latin typeface="Aptos"/>
              </a:defRPr>
            </a:pPr>
            <a:r>
              <a:t>WIX VIBE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1783080"/>
            <a:ext cx="21214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D2E1F1"/>
                </a:solidFill>
                <a:latin typeface="Aptos"/>
              </a:defRPr>
            </a:pPr>
            <a:r>
              <a:t>Prototype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252728"/>
            <a:ext cx="2487168" cy="877824"/>
          </a:xfrm>
          <a:prstGeom prst="roundRect">
            <a:avLst/>
          </a:prstGeom>
          <a:solidFill>
            <a:srgbClr val="122640"/>
          </a:solidFill>
          <a:ln>
            <a:solidFill>
              <a:srgbClr val="2C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252728"/>
            <a:ext cx="64008" cy="877824"/>
          </a:xfrm>
          <a:prstGeom prst="rect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1380744"/>
            <a:ext cx="212140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8FBFF"/>
                </a:solidFill>
                <a:latin typeface="Aptos"/>
              </a:defRPr>
            </a:pPr>
            <a:r>
              <a:t>HTML / CSS / 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1783080"/>
            <a:ext cx="21214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D2E1F1"/>
                </a:solidFill>
                <a:latin typeface="Aptos"/>
              </a:defRPr>
            </a:pPr>
            <a:r>
              <a:t>Web interface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2331720"/>
            <a:ext cx="2487168" cy="877824"/>
          </a:xfrm>
          <a:prstGeom prst="roundRect">
            <a:avLst/>
          </a:prstGeom>
          <a:solidFill>
            <a:srgbClr val="122640"/>
          </a:solidFill>
          <a:ln>
            <a:solidFill>
              <a:srgbClr val="2C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52" y="2331720"/>
            <a:ext cx="64008" cy="877824"/>
          </a:xfrm>
          <a:prstGeom prst="rect">
            <a:avLst/>
          </a:prstGeom>
          <a:solidFill>
            <a:srgbClr val="35C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2459736"/>
            <a:ext cx="212140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8FBF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" y="2862072"/>
            <a:ext cx="21214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D2E1F1"/>
                </a:solidFill>
                <a:latin typeface="Aptos"/>
              </a:defRPr>
            </a:pPr>
            <a:r>
              <a:t>AI + backend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331720"/>
            <a:ext cx="2487168" cy="877824"/>
          </a:xfrm>
          <a:prstGeom prst="roundRect">
            <a:avLst/>
          </a:prstGeom>
          <a:solidFill>
            <a:srgbClr val="122640"/>
          </a:solidFill>
          <a:ln>
            <a:solidFill>
              <a:srgbClr val="2C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91840" y="2331720"/>
            <a:ext cx="64008" cy="877824"/>
          </a:xfrm>
          <a:prstGeom prst="rect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93008" y="2459736"/>
            <a:ext cx="212140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8FBFF"/>
                </a:solidFill>
                <a:latin typeface="Aptos"/>
              </a:defRPr>
            </a:pPr>
            <a:r>
              <a:t>OPENCV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2862072"/>
            <a:ext cx="21214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D2E1F1"/>
                </a:solidFill>
                <a:latin typeface="Aptos"/>
              </a:defRPr>
            </a:pPr>
            <a:r>
              <a:t>Video processing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3410712"/>
            <a:ext cx="2487168" cy="877824"/>
          </a:xfrm>
          <a:prstGeom prst="roundRect">
            <a:avLst/>
          </a:prstGeom>
          <a:solidFill>
            <a:srgbClr val="122640"/>
          </a:solidFill>
          <a:ln>
            <a:solidFill>
              <a:srgbClr val="2C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3410712"/>
            <a:ext cx="64008" cy="877824"/>
          </a:xfrm>
          <a:prstGeom prst="rect">
            <a:avLst/>
          </a:prstGeom>
          <a:solidFill>
            <a:srgbClr val="35C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19" y="3538728"/>
            <a:ext cx="212140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8FBFF"/>
                </a:solidFill>
                <a:latin typeface="Aptos"/>
              </a:defRPr>
            </a:pPr>
            <a:r>
              <a:t>YOLO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19" y="3941063"/>
            <a:ext cx="21214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D2E1F1"/>
                </a:solidFill>
                <a:latin typeface="Aptos"/>
              </a:defRPr>
            </a:pPr>
            <a:r>
              <a:t>Object detection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0" y="3410712"/>
            <a:ext cx="2487168" cy="877824"/>
          </a:xfrm>
          <a:prstGeom prst="roundRect">
            <a:avLst/>
          </a:prstGeom>
          <a:solidFill>
            <a:srgbClr val="122640"/>
          </a:solidFill>
          <a:ln>
            <a:solidFill>
              <a:srgbClr val="2C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91840" y="3410712"/>
            <a:ext cx="64008" cy="877824"/>
          </a:xfrm>
          <a:prstGeom prst="rect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93008" y="3538728"/>
            <a:ext cx="212140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8FBFF"/>
                </a:solidFill>
                <a:latin typeface="Aptos"/>
              </a:defRPr>
            </a:pPr>
            <a:r>
              <a:t>FASTAPI / FLASK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93008" y="3941063"/>
            <a:ext cx="21214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D2E1F1"/>
                </a:solidFill>
                <a:latin typeface="Aptos"/>
              </a:defRPr>
            </a:pPr>
            <a:r>
              <a:t>API layer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4489704"/>
            <a:ext cx="2487168" cy="877824"/>
          </a:xfrm>
          <a:prstGeom prst="roundRect">
            <a:avLst/>
          </a:prstGeom>
          <a:solidFill>
            <a:srgbClr val="122640"/>
          </a:solidFill>
          <a:ln>
            <a:solidFill>
              <a:srgbClr val="2C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0352" y="4489704"/>
            <a:ext cx="64008" cy="877824"/>
          </a:xfrm>
          <a:prstGeom prst="rect">
            <a:avLst/>
          </a:prstGeom>
          <a:solidFill>
            <a:srgbClr val="35C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19" y="4617720"/>
            <a:ext cx="212140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8FBFF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19" y="5020056"/>
            <a:ext cx="21214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D2E1F1"/>
                </a:solidFill>
                <a:latin typeface="Aptos"/>
              </a:defRPr>
            </a:pPr>
            <a:r>
              <a:t>Alert records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1840" y="4489704"/>
            <a:ext cx="2487168" cy="877824"/>
          </a:xfrm>
          <a:prstGeom prst="roundRect">
            <a:avLst/>
          </a:prstGeom>
          <a:solidFill>
            <a:srgbClr val="122640"/>
          </a:solidFill>
          <a:ln>
            <a:solidFill>
              <a:srgbClr val="2C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91840" y="4489704"/>
            <a:ext cx="64008" cy="877824"/>
          </a:xfrm>
          <a:prstGeom prst="rect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93008" y="4617720"/>
            <a:ext cx="212140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8FBFF"/>
                </a:solidFill>
                <a:latin typeface="Aptos"/>
              </a:defRPr>
            </a:pPr>
            <a:r>
              <a:t>IP CCTV / RTSP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93008" y="5020056"/>
            <a:ext cx="21214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D2E1F1"/>
                </a:solidFill>
                <a:latin typeface="Aptos"/>
              </a:defRPr>
            </a:pPr>
            <a:r>
              <a:t>Camera source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1216151"/>
            <a:ext cx="5120640" cy="4526279"/>
          </a:xfrm>
          <a:prstGeom prst="roundRect">
            <a:avLst/>
          </a:prstGeom>
          <a:solidFill>
            <a:srgbClr val="192D48"/>
          </a:solidFill>
          <a:ln>
            <a:solidFill>
              <a:srgbClr val="35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_crop_yolo_dashboard.p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61872"/>
            <a:ext cx="5029200" cy="443484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172200" y="5742431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0">
                <a:solidFill>
                  <a:srgbClr val="7D9BB9"/>
                </a:solidFill>
                <a:latin typeface="Aptos"/>
              </a:defRPr>
            </a:pPr>
            <a:r>
              <a:t>Visual reference: CSDN / YOLOv8 dashboard example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6428232"/>
            <a:ext cx="10881360" cy="22860"/>
          </a:xfrm>
          <a:prstGeom prst="rect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35640" y="647395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D2E1F1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94360"/>
            <a:ext cx="2103120" cy="2103120"/>
          </a:xfrm>
          <a:prstGeom prst="ellipse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01400" y="5440680"/>
            <a:ext cx="1645920" cy="1645920"/>
          </a:xfrm>
          <a:prstGeom prst="ellipse">
            <a:avLst/>
          </a:prstGeom>
          <a:solidFill>
            <a:srgbClr val="35C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5486400"/>
            <a:ext cx="1417320" cy="1417320"/>
          </a:xfrm>
          <a:prstGeom prst="ellipse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Aptos Display"/>
              </a:defRPr>
            </a:pPr>
            <a:r>
              <a:t>07  WORKING &amp; WEBSITE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9144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0">
                <a:solidFill>
                  <a:srgbClr val="D2E1F1"/>
                </a:solidFill>
                <a:latin typeface="Aptos"/>
              </a:defRPr>
            </a:pPr>
            <a:r>
              <a:t>How the faculty experiences the system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298448"/>
            <a:ext cx="438912" cy="438912"/>
          </a:xfrm>
          <a:prstGeom prst="ellipse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08176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8FB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289304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1">
                <a:solidFill>
                  <a:srgbClr val="F8FBFF"/>
                </a:solidFill>
                <a:latin typeface="Aptos"/>
              </a:defRPr>
            </a:pPr>
            <a:r>
              <a:t>START CAMERA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581912"/>
            <a:ext cx="3474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D2E1F1"/>
                </a:solidFill>
                <a:latin typeface="Aptos"/>
              </a:defRPr>
            </a:pPr>
            <a:r>
              <a:t>Camera permission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130552"/>
            <a:ext cx="438912" cy="438912"/>
          </a:xfrm>
          <a:prstGeom prst="ellipse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240280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8FB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212140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1">
                <a:solidFill>
                  <a:srgbClr val="F8FBFF"/>
                </a:solidFill>
                <a:latin typeface="Aptos"/>
              </a:defRPr>
            </a:pPr>
            <a:r>
              <a:t>START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2414016"/>
            <a:ext cx="3474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D2E1F1"/>
                </a:solidFill>
                <a:latin typeface="Aptos"/>
              </a:defRPr>
            </a:pPr>
            <a:r>
              <a:t>Begin analysis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2962656"/>
            <a:ext cx="438912" cy="438912"/>
          </a:xfrm>
          <a:prstGeom prst="ellipse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072384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8FB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9535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1">
                <a:solidFill>
                  <a:srgbClr val="F8FBFF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246120"/>
            <a:ext cx="3474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D2E1F1"/>
                </a:solidFill>
                <a:latin typeface="Aptos"/>
              </a:defRPr>
            </a:pPr>
            <a:r>
              <a:t>Potential event highlighted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3794760"/>
            <a:ext cx="438912" cy="438912"/>
          </a:xfrm>
          <a:prstGeom prst="ellipse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904488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8FB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378561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1">
                <a:solidFill>
                  <a:srgbClr val="F8FBFF"/>
                </a:solidFill>
                <a:latin typeface="Aptos"/>
              </a:defRPr>
            </a:pPr>
            <a:r>
              <a:t>CAPTURE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4078224"/>
            <a:ext cx="3474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D2E1F1"/>
                </a:solidFill>
                <a:latin typeface="Aptos"/>
              </a:defRPr>
            </a:pPr>
            <a:r>
              <a:t>Evidence frame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4626864"/>
            <a:ext cx="438912" cy="438912"/>
          </a:xfrm>
          <a:prstGeom prst="ellipse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736592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8FB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461772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1">
                <a:solidFill>
                  <a:srgbClr val="F8FBFF"/>
                </a:solidFill>
                <a:latin typeface="Aptos"/>
              </a:defRPr>
            </a:pPr>
            <a:r>
              <a:t>ALERT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2" y="4910328"/>
            <a:ext cx="3474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D2E1F1"/>
                </a:solidFill>
                <a:latin typeface="Aptos"/>
              </a:defRPr>
            </a:pPr>
            <a:r>
              <a:t>Faculty review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0" y="1252728"/>
            <a:ext cx="5349240" cy="4526279"/>
          </a:xfrm>
          <a:prstGeom prst="roundRect">
            <a:avLst/>
          </a:prstGeom>
          <a:solidFill>
            <a:srgbClr val="192D48"/>
          </a:solidFill>
          <a:ln>
            <a:solidFill>
              <a:srgbClr val="35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_crop_ai_dashboard.p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98448"/>
            <a:ext cx="5257800" cy="44348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989320" y="5779007"/>
            <a:ext cx="5257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0">
                <a:solidFill>
                  <a:srgbClr val="7D9BB9"/>
                </a:solidFill>
                <a:latin typeface="Aptos"/>
              </a:defRPr>
            </a:pPr>
            <a:r>
              <a:t>Visual reference: Trinetra Systems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428232"/>
            <a:ext cx="10881360" cy="22860"/>
          </a:xfrm>
          <a:prstGeom prst="rect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5640" y="647395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D2E1F1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94360"/>
            <a:ext cx="2103120" cy="2103120"/>
          </a:xfrm>
          <a:prstGeom prst="ellipse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01400" y="5440680"/>
            <a:ext cx="1645920" cy="1645920"/>
          </a:xfrm>
          <a:prstGeom prst="ellipse">
            <a:avLst/>
          </a:prstGeom>
          <a:solidFill>
            <a:srgbClr val="35C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5486400"/>
            <a:ext cx="1417320" cy="1417320"/>
          </a:xfrm>
          <a:prstGeom prst="ellipse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Aptos Display"/>
              </a:defRPr>
            </a:pPr>
            <a:r>
              <a:t>08  BENEFITS, LIMITATIONS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9144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0">
                <a:solidFill>
                  <a:srgbClr val="D2E1F1"/>
                </a:solidFill>
                <a:latin typeface="Aptos"/>
              </a:defRPr>
            </a:pPr>
            <a:r>
              <a:t>Why the project is useful — and what comes next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2971800" cy="4434840"/>
          </a:xfrm>
          <a:prstGeom prst="roundRect">
            <a:avLst/>
          </a:prstGeom>
          <a:solidFill>
            <a:srgbClr val="122640"/>
          </a:solidFill>
          <a:ln>
            <a:solidFill>
              <a:srgbClr val="2C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64008" cy="4434840"/>
          </a:xfrm>
          <a:prstGeom prst="rect">
            <a:avLst/>
          </a:prstGeom>
          <a:solidFill>
            <a:srgbClr val="37B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53895"/>
            <a:ext cx="2606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8FBFF"/>
                </a:solidFill>
                <a:latin typeface="Aptos"/>
              </a:defRPr>
            </a:pPr>
            <a:r>
              <a:t>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856231"/>
            <a:ext cx="2606040" cy="3794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D2E1F1"/>
                </a:solidFill>
                <a:latin typeface="Aptos"/>
              </a:defRPr>
            </a:pPr>
            <a:r>
              <a:t>✓ Faster attention to events</a:t>
            </a:r>
            <a:br/>
            <a:br/>
            <a:r>
              <a:t>✓ Evidence-based review</a:t>
            </a:r>
            <a:br/>
            <a:br/>
            <a:r>
              <a:t>✓ Centralized dashboard</a:t>
            </a:r>
            <a:br/>
            <a:br/>
            <a:r>
              <a:t>✓ Supports faculty monitoring</a:t>
            </a:r>
            <a:br/>
            <a:br/>
            <a:r>
              <a:t>✓ Scalable to multiple cameras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1325880"/>
            <a:ext cx="2971800" cy="4434840"/>
          </a:xfrm>
          <a:prstGeom prst="roundRect">
            <a:avLst/>
          </a:prstGeom>
          <a:solidFill>
            <a:srgbClr val="122640"/>
          </a:solidFill>
          <a:ln>
            <a:solidFill>
              <a:srgbClr val="2C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03320" y="1325880"/>
            <a:ext cx="64008" cy="4434840"/>
          </a:xfrm>
          <a:prstGeom prst="rect">
            <a:avLst/>
          </a:prstGeom>
          <a:solidFill>
            <a:srgbClr val="DC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4487" y="1453895"/>
            <a:ext cx="2606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8FBFF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4487" y="1856231"/>
            <a:ext cx="2606040" cy="3794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D2E1F1"/>
                </a:solidFill>
                <a:latin typeface="Aptos"/>
              </a:defRPr>
            </a:pPr>
            <a:r>
              <a:t>• AI can generate false alerts</a:t>
            </a:r>
            <a:br/>
            <a:br/>
            <a:r>
              <a:t>• Needs reliable camera/network</a:t>
            </a:r>
            <a:br/>
            <a:br/>
            <a:r>
              <a:t>• RTSP needs backend integration</a:t>
            </a:r>
            <a:br/>
            <a:br/>
            <a:r>
              <a:t>• Privacy and access control are important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1325880"/>
            <a:ext cx="2697480" cy="4434840"/>
          </a:xfrm>
          <a:prstGeom prst="roundRect">
            <a:avLst/>
          </a:prstGeom>
          <a:solidFill>
            <a:srgbClr val="122640"/>
          </a:solidFill>
          <a:ln>
            <a:solidFill>
              <a:srgbClr val="2C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03720" y="1325880"/>
            <a:ext cx="64008" cy="4434840"/>
          </a:xfrm>
          <a:prstGeom prst="rect">
            <a:avLst/>
          </a:prstGeom>
          <a:solidFill>
            <a:srgbClr val="35C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4888" y="1453895"/>
            <a:ext cx="2331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8FBFF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4888" y="1856231"/>
            <a:ext cx="2331720" cy="3794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D2E1F1"/>
                </a:solidFill>
                <a:latin typeface="Aptos"/>
              </a:defRPr>
            </a:pPr>
            <a:r>
              <a:t>→ Multiple IP cameras</a:t>
            </a:r>
            <a:br/>
            <a:br/>
            <a:r>
              <a:t>→ Better behavior recognition</a:t>
            </a:r>
            <a:br/>
            <a:br/>
            <a:r>
              <a:t>→ Real-time notifications</a:t>
            </a:r>
            <a:br/>
            <a:br/>
            <a:r>
              <a:t>→ Secure evidence storage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1280160"/>
            <a:ext cx="1737360" cy="4526279"/>
          </a:xfrm>
          <a:prstGeom prst="roundRect">
            <a:avLst/>
          </a:prstGeom>
          <a:solidFill>
            <a:srgbClr val="192D48"/>
          </a:solidFill>
          <a:ln>
            <a:solidFill>
              <a:srgbClr val="35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_crop_classroom_ai.p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325880"/>
            <a:ext cx="1645920" cy="4434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829800" y="5806440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0">
                <a:solidFill>
                  <a:srgbClr val="7D9BB9"/>
                </a:solidFill>
                <a:latin typeface="Aptos"/>
              </a:defRPr>
            </a:pPr>
            <a:r>
              <a:t>Visual reference: Times Higher Education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28232"/>
            <a:ext cx="10881360" cy="22860"/>
          </a:xfrm>
          <a:prstGeom prst="rect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35640" y="647395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D2E1F1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94360"/>
            <a:ext cx="2103120" cy="2103120"/>
          </a:xfrm>
          <a:prstGeom prst="ellipse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01400" y="5440680"/>
            <a:ext cx="1645920" cy="1645920"/>
          </a:xfrm>
          <a:prstGeom prst="ellipse">
            <a:avLst/>
          </a:prstGeom>
          <a:solidFill>
            <a:srgbClr val="35C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5486400"/>
            <a:ext cx="1417320" cy="1417320"/>
          </a:xfrm>
          <a:prstGeom prst="ellipse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8FB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35CDE2"/>
                </a:solidFill>
                <a:latin typeface="Aptos"/>
              </a:defRPr>
            </a:pPr>
            <a:r>
              <a:t>Intelligent Classroom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10128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2E1F1"/>
                </a:solidFill>
                <a:latin typeface="Aptos"/>
              </a:defRPr>
            </a:pPr>
            <a:r>
              <a:t>BVSR ENGINEERING COLLEGE  •  CSE – Data Science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3840480"/>
            <a:ext cx="4892040" cy="1783080"/>
          </a:xfrm>
          <a:prstGeom prst="roundRect">
            <a:avLst/>
          </a:prstGeom>
          <a:solidFill>
            <a:srgbClr val="192D48"/>
          </a:solidFill>
          <a:ln>
            <a:solidFill>
              <a:srgbClr val="35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_crop_ai_dashboard.p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3886200"/>
            <a:ext cx="4800600" cy="1691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03320" y="5623559"/>
            <a:ext cx="4800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0">
                <a:solidFill>
                  <a:srgbClr val="7D9BB9"/>
                </a:solidFill>
                <a:latin typeface="Aptos"/>
              </a:defRPr>
            </a:pPr>
            <a:r>
              <a:t>Visual reference: Trinetra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71500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BFF"/>
                </a:solidFill>
                <a:latin typeface="Aptos"/>
              </a:defRPr>
            </a:pPr>
            <a:r>
              <a:t>QUESTIONS &amp; ANSWERS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28232"/>
            <a:ext cx="10881360" cy="22860"/>
          </a:xfrm>
          <a:prstGeom prst="rect">
            <a:avLst/>
          </a:prstGeom>
          <a:solidFill>
            <a:srgbClr val="1C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35640" y="647395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D2E1F1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Classroom Monitoring System - Actual Project Images</dc:title>
  <dc:subject/>
  <dc:creator>CSE - Data Science Project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